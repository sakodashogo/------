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6" r:id="rId5"/>
    <p:sldId id="314" r:id="rId6"/>
    <p:sldId id="295" r:id="rId7"/>
    <p:sldId id="304" r:id="rId8"/>
    <p:sldId id="305" r:id="rId9"/>
    <p:sldId id="306" r:id="rId10"/>
    <p:sldId id="309" r:id="rId11"/>
    <p:sldId id="308" r:id="rId12"/>
    <p:sldId id="310" r:id="rId13"/>
    <p:sldId id="311" r:id="rId14"/>
    <p:sldId id="312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迫田　章吾 " userId="b39e235b-3512-4abc-bf9d-3d2b07ab16b2" providerId="ADAL" clId="{51D5C8D2-05D3-44F5-9568-84FF416E6DDC}"/>
    <pc:docChg chg="delSld">
      <pc:chgData name="迫田　章吾 " userId="b39e235b-3512-4abc-bf9d-3d2b07ab16b2" providerId="ADAL" clId="{51D5C8D2-05D3-44F5-9568-84FF416E6DDC}" dt="2026-02-13T07:56:27.199" v="6" actId="47"/>
      <pc:docMkLst>
        <pc:docMk/>
      </pc:docMkLst>
      <pc:sldChg chg="del">
        <pc:chgData name="迫田　章吾 " userId="b39e235b-3512-4abc-bf9d-3d2b07ab16b2" providerId="ADAL" clId="{51D5C8D2-05D3-44F5-9568-84FF416E6DDC}" dt="2026-02-13T07:56:20.780" v="0" actId="47"/>
        <pc:sldMkLst>
          <pc:docMk/>
          <pc:sldMk cId="507315343" sldId="315"/>
        </pc:sldMkLst>
      </pc:sldChg>
      <pc:sldChg chg="del">
        <pc:chgData name="迫田　章吾 " userId="b39e235b-3512-4abc-bf9d-3d2b07ab16b2" providerId="ADAL" clId="{51D5C8D2-05D3-44F5-9568-84FF416E6DDC}" dt="2026-02-13T07:56:23.650" v="3" actId="47"/>
        <pc:sldMkLst>
          <pc:docMk/>
          <pc:sldMk cId="1857357235" sldId="319"/>
        </pc:sldMkLst>
      </pc:sldChg>
      <pc:sldChg chg="del">
        <pc:chgData name="迫田　章吾 " userId="b39e235b-3512-4abc-bf9d-3d2b07ab16b2" providerId="ADAL" clId="{51D5C8D2-05D3-44F5-9568-84FF416E6DDC}" dt="2026-02-13T07:56:24.480" v="4" actId="47"/>
        <pc:sldMkLst>
          <pc:docMk/>
          <pc:sldMk cId="3674190213" sldId="320"/>
        </pc:sldMkLst>
      </pc:sldChg>
      <pc:sldChg chg="del">
        <pc:chgData name="迫田　章吾 " userId="b39e235b-3512-4abc-bf9d-3d2b07ab16b2" providerId="ADAL" clId="{51D5C8D2-05D3-44F5-9568-84FF416E6DDC}" dt="2026-02-13T07:56:27.199" v="6" actId="47"/>
        <pc:sldMkLst>
          <pc:docMk/>
          <pc:sldMk cId="485165884" sldId="321"/>
        </pc:sldMkLst>
      </pc:sldChg>
      <pc:sldChg chg="del">
        <pc:chgData name="迫田　章吾 " userId="b39e235b-3512-4abc-bf9d-3d2b07ab16b2" providerId="ADAL" clId="{51D5C8D2-05D3-44F5-9568-84FF416E6DDC}" dt="2026-02-13T07:56:22.886" v="2" actId="47"/>
        <pc:sldMkLst>
          <pc:docMk/>
          <pc:sldMk cId="1499182600" sldId="322"/>
        </pc:sldMkLst>
      </pc:sldChg>
      <pc:sldChg chg="del">
        <pc:chgData name="迫田　章吾 " userId="b39e235b-3512-4abc-bf9d-3d2b07ab16b2" providerId="ADAL" clId="{51D5C8D2-05D3-44F5-9568-84FF416E6DDC}" dt="2026-02-13T07:56:22.176" v="1" actId="47"/>
        <pc:sldMkLst>
          <pc:docMk/>
          <pc:sldMk cId="2535708091" sldId="323"/>
        </pc:sldMkLst>
      </pc:sldChg>
      <pc:sldChg chg="del">
        <pc:chgData name="迫田　章吾 " userId="b39e235b-3512-4abc-bf9d-3d2b07ab16b2" providerId="ADAL" clId="{51D5C8D2-05D3-44F5-9568-84FF416E6DDC}" dt="2026-02-13T07:56:25.274" v="5" actId="47"/>
        <pc:sldMkLst>
          <pc:docMk/>
          <pc:sldMk cId="3198626933" sldId="32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2026/2/13</a:t>
            </a:fld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‹#›</a:t>
            </a:fld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1B00887C-0EF1-4AC1-9E9B-79863B12620D}" type="datetimeFigureOut">
              <a:rPr lang="ja-JP" altLang="en-US" smtClean="0"/>
              <a:pPr/>
              <a:t>2026/2/13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059A420A-BDF0-4775-9670-07D3BFB5E94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発表の内容と構成が想像できる</a:t>
            </a:r>
            <a:br>
              <a:rPr kumimoji="1" lang="en-US" altLang="ja-JP"/>
            </a:br>
            <a:r>
              <a:rPr kumimoji="1" lang="ja-JP" altLang="en-US"/>
              <a:t>発表題目をここに書く．</a:t>
            </a:r>
            <a:br>
              <a:rPr kumimoji="1" lang="en-US" altLang="ja-JP"/>
            </a:br>
            <a:r>
              <a:rPr kumimoji="1" lang="ja-JP" altLang="en-US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発表者名</a:t>
            </a:r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身分や所属など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題目の説明の助けになる図があれば載せる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1015999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話題について一番伝えたいメッセージ（要点）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2013155"/>
            <a:ext cx="11099800" cy="4572000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</a:lstStyle>
          <a:p>
            <a:pPr lvl="0"/>
            <a:r>
              <a:rPr kumimoji="1" lang="ja-JP" altLang="en-US"/>
              <a:t>メッセージの補足説明</a:t>
            </a:r>
            <a:endParaRPr kumimoji="1" lang="en-US" altLang="ja-JP"/>
          </a:p>
          <a:p>
            <a:pPr lvl="1"/>
            <a:r>
              <a:rPr kumimoji="1" lang="ja-JP" altLang="en-US"/>
              <a:t>第２段</a:t>
            </a:r>
            <a:endParaRPr kumimoji="1" lang="en-US" altLang="ja-JP"/>
          </a:p>
          <a:p>
            <a:pPr lvl="2"/>
            <a:r>
              <a:rPr kumimoji="1" lang="ja-JP" altLang="en-US"/>
              <a:t>第３段</a:t>
            </a:r>
            <a:endParaRPr kumimoji="1" lang="en-US" altLang="ja-JP"/>
          </a:p>
          <a:p>
            <a:pPr lvl="3"/>
            <a:r>
              <a:rPr kumimoji="1" lang="ja-JP" altLang="en-US"/>
              <a:t>第４段</a:t>
            </a:r>
            <a:endParaRPr kumimoji="1" lang="en-US" altLang="ja-JP"/>
          </a:p>
          <a:p>
            <a:pPr lvl="4"/>
            <a:r>
              <a:rPr kumimoji="1" lang="ja-JP" altLang="en-US"/>
              <a:t>第５弾</a:t>
            </a:r>
            <a:endParaRPr kumimoji="1" lang="en-US" altLang="ja-JP"/>
          </a:p>
          <a:p>
            <a:pPr lvl="3"/>
            <a:endParaRPr kumimoji="1" lang="en-US" altLang="ja-JP"/>
          </a:p>
          <a:p>
            <a:pPr lvl="3"/>
            <a:endParaRPr kumimoji="1" lang="en-US" altLang="ja-JP"/>
          </a:p>
          <a:p>
            <a:pPr lvl="1"/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スライドの話題＝問い（論点）</a:t>
            </a:r>
            <a:endParaRPr kumimoji="1" lang="en-US" altLang="ja-JP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493500" y="315648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‹#›</a:t>
            </a:fld>
            <a:endParaRPr kumimoji="1" lang="ja-JP" altLang="en-US" sz="24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タイトル 1">
            <a:extLst>
              <a:ext uri="{FF2B5EF4-FFF2-40B4-BE49-F238E27FC236}">
                <a16:creationId xmlns:a16="http://schemas.microsoft.com/office/drawing/2014/main" id="{A9BE1665-9322-47E1-A153-0527F8ACA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1015876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話題について一番伝えたいメッセージ（要点）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D56239-07BE-4C67-A734-0AF31D50B46F}"/>
              </a:ext>
            </a:extLst>
          </p:cNvPr>
          <p:cNvSpPr/>
          <p:nvPr userDrawn="1"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817710-9F90-4285-B55E-BC67D0EB2157}"/>
              </a:ext>
            </a:extLst>
          </p:cNvPr>
          <p:cNvSpPr/>
          <p:nvPr userDrawn="1"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1BD8337-6ACB-47CC-98B1-58823A402B6F}"/>
              </a:ext>
            </a:extLst>
          </p:cNvPr>
          <p:cNvSpPr/>
          <p:nvPr userDrawn="1"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E2E5C02-D511-4A33-B24E-FB1EA43C3941}"/>
              </a:ext>
            </a:extLst>
          </p:cNvPr>
          <p:cNvSpPr txBox="1"/>
          <p:nvPr userDrawn="1"/>
        </p:nvSpPr>
        <p:spPr>
          <a:xfrm>
            <a:off x="11493500" y="315648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‹#›</a:t>
            </a:fld>
            <a:endParaRPr kumimoji="1" lang="ja-JP" altLang="en-US" sz="24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87E163B-8A82-4BA9-BC1A-4BC89F170761}"/>
              </a:ext>
            </a:extLst>
          </p:cNvPr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プレースホルダー 17">
            <a:extLst>
              <a:ext uri="{FF2B5EF4-FFF2-40B4-BE49-F238E27FC236}">
                <a16:creationId xmlns:a16="http://schemas.microsoft.com/office/drawing/2014/main" id="{B78D8A30-D394-4059-92AC-154EDE421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スライドの話題＝問い（論点）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B7BAF030-86AC-4BA0-B9C6-3243C593BCFC}" type="datetimeFigureOut">
              <a:rPr lang="ja-JP" altLang="en-US" smtClean="0"/>
              <a:pPr/>
              <a:t>2026/2/13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B71B92D0-3845-473E-8E13-C70357A36CF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4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0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Al-Fe-Pt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三元系合金における</a:t>
            </a:r>
            <a:b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高次元ニューラルネットワークポテンシャルの外挿精度向上に関する研究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迫田章吾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2A5E6-B11B-4CED-B03E-250BCC270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石井研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0AFE5A35-E172-4CE5-9706-822A88371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62C6-89D1-865D-F61B-09981E4F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7CD077-6BFC-D383-F633-D73008F3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882096"/>
            <a:ext cx="11074402" cy="938159"/>
          </a:xfrm>
        </p:spPr>
        <p:txBody>
          <a:bodyPr/>
          <a:lstStyle/>
          <a:p>
            <a:r>
              <a:rPr kumimoji="1" lang="ja-JP" altLang="en-US" sz="2000" b="0">
                <a:latin typeface="メイリオ" panose="020B0604030504040204" pitchFamily="50" charset="-128"/>
                <a:ea typeface="メイリオ" panose="020B0604030504040204" pitchFamily="50" charset="-128"/>
              </a:rPr>
              <a:t>材料科学や化学分野では、原子レベルでのシミュレーションが</a:t>
            </a:r>
            <a:br>
              <a:rPr kumimoji="1" lang="en-US" altLang="ja-JP" sz="2000" b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b="0">
                <a:latin typeface="メイリオ" panose="020B0604030504040204" pitchFamily="50" charset="-128"/>
                <a:ea typeface="メイリオ" panose="020B0604030504040204" pitchFamily="50" charset="-128"/>
              </a:rPr>
              <a:t>物質特性の理解・予測に不可欠である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4E69326-98FE-128E-0492-D3242DC28A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研究背景（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） 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- 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大規模原子シミュレーションの重要性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42FFAA-042F-42B9-2194-21FEC2C51E44}"/>
              </a:ext>
            </a:extLst>
          </p:cNvPr>
          <p:cNvSpPr/>
          <p:nvPr/>
        </p:nvSpPr>
        <p:spPr>
          <a:xfrm>
            <a:off x="343989" y="2183761"/>
            <a:ext cx="5451566" cy="1385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原理</a:t>
            </a:r>
            <a:r>
              <a:rPr kumimoji="1"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電子密度に基づいて量子力学的にエネルギーや力を計算 </a:t>
            </a:r>
            <a:endParaRPr kumimoji="1"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  <a:r>
              <a:rPr kumimoji="1"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高精度、汎用性が高い（未知の物質にも適用可）</a:t>
            </a:r>
            <a:endParaRPr kumimoji="1"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r>
              <a:rPr kumimoji="1"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計算コストが非常に高い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E1E4A05-FF28-0ECA-55B7-0C9B10D986FD}"/>
              </a:ext>
            </a:extLst>
          </p:cNvPr>
          <p:cNvSpPr/>
          <p:nvPr/>
        </p:nvSpPr>
        <p:spPr>
          <a:xfrm>
            <a:off x="6544494" y="2183761"/>
            <a:ext cx="5303517" cy="1385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原理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原子間に働く力を経験的な関数で近似 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計算が高速 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関数の開発が必要、精度や適用範囲に限界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8AA3D60-5888-8F23-669D-F9C6FAF39500}"/>
              </a:ext>
            </a:extLst>
          </p:cNvPr>
          <p:cNvSpPr/>
          <p:nvPr/>
        </p:nvSpPr>
        <p:spPr>
          <a:xfrm>
            <a:off x="1985917" y="5058737"/>
            <a:ext cx="8577580" cy="1385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原理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DFT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計算データを教師データとして、原子の局所環境とエネルギー・力の関係を機械学習モデル（例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ニューラルネットワーク）で学習 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DFT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精度と古典ポテンシャル並みの速度の両立を目指す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学習データの質と量が精度に影響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EFE444B-6B89-370B-4931-0362CEFF48A1}"/>
              </a:ext>
            </a:extLst>
          </p:cNvPr>
          <p:cNvSpPr txBox="1"/>
          <p:nvPr/>
        </p:nvSpPr>
        <p:spPr>
          <a:xfrm>
            <a:off x="343989" y="1763676"/>
            <a:ext cx="276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第一原理計算</a:t>
            </a:r>
            <a:endParaRPr kumimoji="1" lang="ja-JP" altLang="en-US" sz="24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540296E-9665-7DE1-8B4C-66BE20AE6554}"/>
              </a:ext>
            </a:extLst>
          </p:cNvPr>
          <p:cNvSpPr txBox="1"/>
          <p:nvPr/>
        </p:nvSpPr>
        <p:spPr>
          <a:xfrm>
            <a:off x="6470470" y="173289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古典ポテンシャル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B8B95F3-594F-FD29-99E9-590B6AA64CEB}"/>
              </a:ext>
            </a:extLst>
          </p:cNvPr>
          <p:cNvSpPr txBox="1"/>
          <p:nvPr/>
        </p:nvSpPr>
        <p:spPr>
          <a:xfrm>
            <a:off x="2099491" y="459054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機械学習ポテンシャル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70D0B566-9B18-6C16-839C-A5DA026B17AE}"/>
              </a:ext>
            </a:extLst>
          </p:cNvPr>
          <p:cNvSpPr/>
          <p:nvPr/>
        </p:nvSpPr>
        <p:spPr>
          <a:xfrm>
            <a:off x="5514703" y="3868043"/>
            <a:ext cx="1162594" cy="65853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490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研究背景（</a:t>
            </a:r>
            <a:r>
              <a:rPr lang="en-US" altLang="ja-JP"/>
              <a:t>2</a:t>
            </a:r>
            <a:r>
              <a:rPr lang="ja-JP" altLang="en-US"/>
              <a:t>） </a:t>
            </a:r>
            <a:r>
              <a:rPr lang="en-US" altLang="ja-JP"/>
              <a:t>- </a:t>
            </a:r>
            <a:r>
              <a:rPr lang="ja-JP" altLang="en-US"/>
              <a:t>高次元ニューラルネットワークポテンシャル（</a:t>
            </a:r>
            <a:r>
              <a:rPr lang="en-US" altLang="ja-JP"/>
              <a:t>HDNNP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59D2ABC8-B424-6060-7DC2-373339B7A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ja-JP" altLang="en-US"/>
          </a:p>
          <a:p>
            <a:pPr lvl="0"/>
            <a:endParaRPr lang="ja-JP" altLang="en-US"/>
          </a:p>
          <a:p>
            <a:pPr lvl="0"/>
            <a:endParaRPr lang="ja-JP" altLang="en-US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4B570916-BD58-8EA6-5644-1CE98CE8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8" y="1036853"/>
            <a:ext cx="11074402" cy="4784294"/>
          </a:xfrm>
        </p:spPr>
        <p:txBody>
          <a:bodyPr/>
          <a:lstStyle/>
          <a:p>
            <a:r>
              <a:rPr lang="ja-JP" altLang="en-US" sz="2000"/>
              <a:t>＜</a:t>
            </a:r>
            <a:r>
              <a:rPr lang="en-US" altLang="ja-JP" sz="2000"/>
              <a:t>HDNNP</a:t>
            </a:r>
            <a:r>
              <a:rPr lang="ja-JP" altLang="en-US" sz="2000"/>
              <a:t>の基本構造＞</a:t>
            </a:r>
            <a:br>
              <a:rPr lang="en-US" altLang="ja-JP" sz="2000"/>
            </a:br>
            <a:r>
              <a:rPr lang="ja-JP" altLang="en-US" sz="2000"/>
              <a:t>・</a:t>
            </a:r>
            <a:r>
              <a:rPr lang="ja-JP" altLang="en-US" sz="2000" b="0"/>
              <a:t>対称性関数</a:t>
            </a:r>
            <a:r>
              <a:rPr lang="en-US" altLang="ja-JP" sz="2000" b="0"/>
              <a:t>(Symmetry Functions):</a:t>
            </a:r>
            <a:r>
              <a:rPr lang="ja-JP" altLang="en-US" sz="2000" b="0"/>
              <a:t> </a:t>
            </a:r>
            <a:br>
              <a:rPr lang="en-US" altLang="ja-JP" sz="2000"/>
            </a:br>
            <a:r>
              <a:rPr lang="ja-JP" altLang="en-US" sz="2000" b="0"/>
              <a:t>各原子の局所的な化学環境を記述子ベクトルとして表現</a:t>
            </a:r>
            <a:br>
              <a:rPr lang="en-US" altLang="ja-JP" sz="2000" b="0"/>
            </a:br>
            <a:r>
              <a:rPr lang="ja-JP" altLang="en-US" sz="2000" b="0"/>
              <a:t>（回転・並進・原子入れ替えに対して不変）。</a:t>
            </a:r>
            <a:br>
              <a:rPr lang="en-US" altLang="ja-JP" sz="2000" b="0"/>
            </a:br>
            <a:br>
              <a:rPr lang="ja-JP" altLang="en-US" sz="2000" b="0"/>
            </a:br>
            <a:r>
              <a:rPr lang="ja-JP" altLang="en-US" sz="2000" b="0"/>
              <a:t>・原子ニューラルネットワーク（</a:t>
            </a:r>
            <a:r>
              <a:rPr lang="en-US" altLang="ja-JP" sz="2000" b="0"/>
              <a:t>Atom NNs</a:t>
            </a:r>
            <a:r>
              <a:rPr lang="ja-JP" altLang="en-US" sz="2000" b="0"/>
              <a:t>）</a:t>
            </a:r>
            <a:r>
              <a:rPr lang="en-US" altLang="ja-JP" sz="2000" b="0"/>
              <a:t>:</a:t>
            </a:r>
            <a:br>
              <a:rPr lang="en-US" altLang="ja-JP" sz="2000" b="0"/>
            </a:br>
            <a:r>
              <a:rPr lang="ja-JP" altLang="en-US" sz="2000" b="0"/>
              <a:t> 対称性関数を入力として、その原子が持つエネルギーを予測。</a:t>
            </a:r>
            <a:br>
              <a:rPr lang="en-US" altLang="ja-JP" sz="2000" b="0"/>
            </a:br>
            <a:r>
              <a:rPr lang="ja-JP" altLang="en-US" sz="2000" b="0"/>
              <a:t>元素ごとに個別の</a:t>
            </a:r>
            <a:r>
              <a:rPr lang="en-US" altLang="ja-JP" sz="2000" b="0"/>
              <a:t>NN</a:t>
            </a:r>
            <a:r>
              <a:rPr lang="ja-JP" altLang="en-US" sz="2000" b="0"/>
              <a:t>を用意。</a:t>
            </a:r>
            <a:br>
              <a:rPr lang="en-US" altLang="ja-JP" sz="2000" b="0"/>
            </a:br>
            <a:br>
              <a:rPr lang="en-US" altLang="ja-JP" sz="2000" b="0"/>
            </a:br>
            <a:r>
              <a:rPr lang="ja-JP" altLang="en-US" sz="2000" b="0"/>
              <a:t>・原子ごとのエネルギー</a:t>
            </a:r>
            <a:r>
              <a:rPr lang="en-US" altLang="ja-JP" sz="2000" b="0"/>
              <a:t>(Atomic Energy)</a:t>
            </a:r>
            <a:r>
              <a:rPr lang="ja-JP" altLang="en-US" sz="2000" b="0"/>
              <a:t>：</a:t>
            </a:r>
            <a:br>
              <a:rPr lang="en-US" altLang="ja-JP" sz="2000" b="0"/>
            </a:br>
            <a:r>
              <a:rPr lang="en-US" altLang="ja-JP" sz="2000" b="0"/>
              <a:t>Atom-NN</a:t>
            </a:r>
            <a:r>
              <a:rPr lang="ja-JP" altLang="en-US" sz="2000" b="0"/>
              <a:t>は、「原子</a:t>
            </a:r>
            <a:r>
              <a:rPr lang="en-US" altLang="ja-JP" sz="2000" b="0" err="1"/>
              <a:t>i</a:t>
            </a:r>
            <a:r>
              <a:rPr lang="ja-JP" altLang="en-US" sz="2000" b="0"/>
              <a:t>のエネルギー寄与分 </a:t>
            </a:r>
            <a:r>
              <a:rPr lang="en-US" altLang="ja-JP" sz="2000" b="0" err="1"/>
              <a:t>E_i</a:t>
            </a:r>
            <a:r>
              <a:rPr lang="ja-JP" altLang="en-US" sz="2000" b="0"/>
              <a:t>」を計算して</a:t>
            </a:r>
            <a:br>
              <a:rPr lang="en-US" altLang="ja-JP" sz="2000" b="0"/>
            </a:br>
            <a:r>
              <a:rPr lang="ja-JP" altLang="en-US" sz="2000" b="0"/>
              <a:t>出力します</a:t>
            </a:r>
            <a:br>
              <a:rPr lang="en-US" altLang="ja-JP" sz="2000" b="0"/>
            </a:br>
            <a:br>
              <a:rPr lang="ja-JP" altLang="en-US" sz="2000" b="0"/>
            </a:br>
            <a:r>
              <a:rPr lang="ja-JP" altLang="en-US" sz="2000" b="0"/>
              <a:t>・総エネルギー</a:t>
            </a:r>
            <a:r>
              <a:rPr lang="en-US" altLang="ja-JP" sz="2000" b="0"/>
              <a:t>(Total Energy):</a:t>
            </a:r>
            <a:br>
              <a:rPr lang="en-US" altLang="ja-JP" sz="2000"/>
            </a:br>
            <a:r>
              <a:rPr lang="ja-JP" altLang="en-US" sz="2000" b="0"/>
              <a:t> 系全体のエネルギー予測値</a:t>
            </a:r>
            <a:br>
              <a:rPr lang="en-US" altLang="ja-JP" sz="2000"/>
            </a:br>
            <a:br>
              <a:rPr lang="en-US" altLang="ja-JP" sz="2000"/>
            </a:br>
            <a:endParaRPr kumimoji="1" lang="ja-JP" altLang="en-US" sz="20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8409046-EB45-AFF4-174E-E8972BF831C9}"/>
              </a:ext>
            </a:extLst>
          </p:cNvPr>
          <p:cNvSpPr txBox="1"/>
          <p:nvPr/>
        </p:nvSpPr>
        <p:spPr>
          <a:xfrm>
            <a:off x="7949005" y="5511035"/>
            <a:ext cx="40211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Four Generations of High-Dimensional Neural Network Potentials Jörg Behler* Cite This: Chem. Rev. 2021, 121, 10037−10072</a:t>
            </a:r>
            <a:r>
              <a:rPr lang="ja-JP" altLang="en-US" sz="14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Figure 5</a:t>
            </a:r>
            <a:endParaRPr lang="ja-JP" altLang="en-US" sz="1400" i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6934B83-F0B7-C089-C474-AEF430AAA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92" y="5511035"/>
            <a:ext cx="1863634" cy="57031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F83BECF-41C0-9595-37E3-3B475CFBB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92" y="6207857"/>
            <a:ext cx="5930537" cy="45086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AF4954-3100-9755-19D2-1FF012AC0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974" y="1077351"/>
            <a:ext cx="4031215" cy="436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932A-9578-82E3-A003-64FBCAE0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AEF22-F2FC-AA13-BA02-21237A3CA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600" b="0"/>
              <a:t>先行研究 </a:t>
            </a:r>
            <a:r>
              <a:rPr kumimoji="1" lang="en-US" altLang="ja-JP" sz="1600" b="0"/>
              <a:t>:</a:t>
            </a:r>
            <a:r>
              <a:rPr lang="en-US" altLang="ja-JP" sz="1600" b="0"/>
              <a:t>Al₁₃Fe₄</a:t>
            </a:r>
            <a:r>
              <a:rPr lang="ja-JP" altLang="en-US" sz="1600" b="0"/>
              <a:t>に</a:t>
            </a:r>
            <a:r>
              <a:rPr lang="en-US" altLang="ja-JP" sz="1600" b="0"/>
              <a:t>Pt</a:t>
            </a:r>
            <a:r>
              <a:rPr lang="ja-JP" altLang="en-US" sz="1600" b="0"/>
              <a:t>をドープした系に対しての</a:t>
            </a:r>
            <a:r>
              <a:rPr lang="en-US" altLang="ja-JP" sz="1600" b="0"/>
              <a:t>HDNNP</a:t>
            </a:r>
            <a:r>
              <a:rPr lang="ja-JP" altLang="en-US" sz="1600" b="0"/>
              <a:t>の計算</a:t>
            </a:r>
            <a:r>
              <a:rPr lang="en-US" altLang="ja-JP" sz="1600" b="0"/>
              <a:t> </a:t>
            </a:r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r>
              <a:rPr lang="ja-JP" altLang="en-US" sz="1600"/>
              <a:t>発見された課題</a:t>
            </a:r>
            <a:r>
              <a:rPr lang="en-US" altLang="ja-JP" sz="1600"/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/>
              <a:t> </a:t>
            </a:r>
            <a:r>
              <a:rPr lang="en-US" altLang="ja-JP" sz="1600" b="0"/>
              <a:t>HDNNP</a:t>
            </a:r>
            <a:r>
              <a:rPr lang="ja-JP" altLang="en-US" sz="1600" b="0"/>
              <a:t>によるテストデータのエネルギー予測値と</a:t>
            </a:r>
            <a:r>
              <a:rPr lang="en-US" altLang="ja-JP" sz="1600" b="0"/>
              <a:t>DFT</a:t>
            </a:r>
            <a:r>
              <a:rPr lang="ja-JP" altLang="en-US" sz="1600" b="0"/>
              <a:t>計算値の間に</a:t>
            </a:r>
            <a:endParaRPr lang="en-US" altLang="ja-JP" sz="16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 b="0"/>
              <a:t>系統的な差が発生。</a:t>
            </a:r>
            <a:endParaRPr lang="en-US" altLang="ja-JP" sz="1600" b="0"/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r>
              <a:rPr lang="ja-JP" altLang="en-US" sz="1600"/>
              <a:t>課題の本質</a:t>
            </a:r>
            <a:r>
              <a:rPr lang="en-US" altLang="ja-JP" sz="1600"/>
              <a:t>:</a:t>
            </a:r>
            <a:r>
              <a:rPr lang="ja-JP" altLang="en-US" sz="1600"/>
              <a:t> </a:t>
            </a:r>
            <a:endParaRPr lang="en-US" altLang="ja-JP" sz="160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 b="0"/>
              <a:t>訓練データに、テストデータの構造を記述するために必要な</a:t>
            </a:r>
            <a:endParaRPr lang="en-US" altLang="ja-JP" sz="16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 b="0"/>
              <a:t>原子配置パターンが不足している。</a:t>
            </a:r>
            <a:endParaRPr lang="en-US" altLang="ja-JP" sz="16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5A3DFD-3F09-816C-4BC8-E325438E74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先行研究と発見された課題</a:t>
            </a:r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B8F4F4-BC0E-19AA-F296-A75E2A940D8F}"/>
              </a:ext>
            </a:extLst>
          </p:cNvPr>
          <p:cNvSpPr/>
          <p:nvPr/>
        </p:nvSpPr>
        <p:spPr>
          <a:xfrm>
            <a:off x="623522" y="1458681"/>
            <a:ext cx="5297467" cy="98406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＜訓練データ＞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基本</a:t>
            </a:r>
            <a:r>
              <a:rPr lang="ja-JP" altLang="en-US" sz="1600">
                <a:solidFill>
                  <a:srgbClr val="4D4D4D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構造に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つドープした構造。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組成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原子数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): Al₇₇Fe₂₄Pt₁ 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および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Al₇₈Fe₂₃Pt₁ 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BBEF0D-0C3D-08BD-FECD-0A2C7C54EB28}"/>
              </a:ext>
            </a:extLst>
          </p:cNvPr>
          <p:cNvSpPr/>
          <p:nvPr/>
        </p:nvSpPr>
        <p:spPr>
          <a:xfrm>
            <a:off x="6335733" y="1480448"/>
            <a:ext cx="5297467" cy="98406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＜テストデータ＞</a:t>
            </a:r>
            <a:b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訓練データのセルを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軸方向に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倍に拡張したスーパーセルに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つドープした構造。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組成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原子数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): Al₁₅₅Fe₄₈Pt₁ 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および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Al₁₅₆Fe₄₇Pt₁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42CF2BD-8419-A1AD-6E05-D414B311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483" y="2928965"/>
            <a:ext cx="3857717" cy="2448588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419115-CA73-2CF6-55EC-21AEA35F5E0F}"/>
              </a:ext>
            </a:extLst>
          </p:cNvPr>
          <p:cNvSpPr txBox="1"/>
          <p:nvPr/>
        </p:nvSpPr>
        <p:spPr>
          <a:xfrm>
            <a:off x="7834203" y="5458722"/>
            <a:ext cx="3831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猿谷 隆祐　修士論文「二元合金系に対する高次元 ニューラルネットワークポテンシャルの 構築」図</a:t>
            </a:r>
            <a:r>
              <a:rPr lang="en-US" altLang="ja-JP" sz="12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12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DE6561D-027D-4204-A43D-EC3EC7FE32BE}"/>
              </a:ext>
            </a:extLst>
          </p:cNvPr>
          <p:cNvCxnSpPr>
            <a:cxnSpLocks/>
          </p:cNvCxnSpPr>
          <p:nvPr/>
        </p:nvCxnSpPr>
        <p:spPr>
          <a:xfrm>
            <a:off x="8494084" y="3821722"/>
            <a:ext cx="0" cy="74424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50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CC67-D9FD-3488-8433-B81ED852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30B686-F762-CA03-CCBC-846EB06BA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endParaRPr kumimoji="1" lang="en-US" altLang="ja-JP" sz="2400"/>
          </a:p>
          <a:p>
            <a:pPr>
              <a:spcBef>
                <a:spcPts val="600"/>
              </a:spcBef>
            </a:pPr>
            <a:r>
              <a:rPr kumimoji="1" lang="ja-JP" altLang="en-US" sz="2000" b="0"/>
              <a:t>先行研究</a:t>
            </a:r>
            <a:r>
              <a:rPr lang="ja-JP" altLang="en-US" sz="2000" b="0"/>
              <a:t>の</a:t>
            </a:r>
            <a:r>
              <a:rPr lang="en-US" altLang="ja-JP" sz="2000" b="0"/>
              <a:t>Al-Fe-Pt</a:t>
            </a:r>
            <a:r>
              <a:rPr lang="ja-JP" altLang="en-US" sz="2000" b="0"/>
              <a:t>三元系合金の</a:t>
            </a:r>
            <a:r>
              <a:rPr lang="en-US" altLang="ja-JP" sz="2000" b="0"/>
              <a:t>HDNNP</a:t>
            </a:r>
            <a:r>
              <a:rPr lang="ja-JP" altLang="en-US" sz="2000" b="0"/>
              <a:t>によるテストデータのエネルギー予測値と</a:t>
            </a:r>
            <a:endParaRPr lang="en-US" altLang="ja-JP" sz="20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2000" b="0"/>
              <a:t>　　</a:t>
            </a:r>
            <a:r>
              <a:rPr lang="en-US" altLang="ja-JP" sz="2000" b="0"/>
              <a:t>DFT</a:t>
            </a:r>
            <a:r>
              <a:rPr lang="ja-JP" altLang="en-US" sz="2000" b="0"/>
              <a:t>計算値の間の</a:t>
            </a:r>
            <a:r>
              <a:rPr kumimoji="1" lang="ja-JP" altLang="en-US" sz="2000" b="0"/>
              <a:t>系統的な差を低減し、外挿性能を向上させること</a:t>
            </a:r>
            <a:endParaRPr kumimoji="1" lang="en-US" altLang="ja-JP" sz="2000" b="0"/>
          </a:p>
          <a:p>
            <a:endParaRPr lang="en-US" altLang="ja-JP" sz="2000" b="0"/>
          </a:p>
          <a:p>
            <a:r>
              <a:rPr kumimoji="1" lang="ja-JP" altLang="en-US" sz="2000" b="0"/>
              <a:t>そのために、予測誤差の</a:t>
            </a:r>
            <a:r>
              <a:rPr lang="ja-JP" altLang="en-US" sz="2000" b="0"/>
              <a:t>原因となる部分構造（＝キーモチーフ）を特定し、それを効率的に学習させる「キーモチーフ指向」</a:t>
            </a:r>
            <a:r>
              <a:rPr kumimoji="1" lang="ja-JP" altLang="en-US" sz="2000" b="0"/>
              <a:t>の新しい訓練データ拡張手法を開発すること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65DDE5-6572-C520-7BB9-CBD4828C12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研究の目的</a:t>
            </a: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88475F72-53E7-D00D-6938-02AF1B8CC71C}"/>
              </a:ext>
            </a:extLst>
          </p:cNvPr>
          <p:cNvSpPr/>
          <p:nvPr/>
        </p:nvSpPr>
        <p:spPr>
          <a:xfrm rot="16200000">
            <a:off x="5764038" y="4216850"/>
            <a:ext cx="552992" cy="1482637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98FA78B-0B0F-8736-13A8-ADA1FCC1B3AB}"/>
              </a:ext>
            </a:extLst>
          </p:cNvPr>
          <p:cNvSpPr txBox="1"/>
          <p:nvPr/>
        </p:nvSpPr>
        <p:spPr>
          <a:xfrm>
            <a:off x="5243405" y="5234665"/>
            <a:ext cx="1730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キーモチーフ指向のデータ拡張手法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31B48F9-BB66-DD66-7FD3-22398DAA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268" y="4042856"/>
            <a:ext cx="3070283" cy="2059336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FAE5AD0C-6CCF-9DAB-77BC-4773D8311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86" y="3991591"/>
            <a:ext cx="3325223" cy="211060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76D6A7-7261-4329-BDA4-5F97B8DE57AF}"/>
              </a:ext>
            </a:extLst>
          </p:cNvPr>
          <p:cNvSpPr txBox="1"/>
          <p:nvPr/>
        </p:nvSpPr>
        <p:spPr>
          <a:xfrm>
            <a:off x="1130267" y="6123490"/>
            <a:ext cx="3831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猿谷 隆祐　修士論文「二元合金系に対する高次元 ニューラルネットワークポテンシャルの 構築」図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800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5951B-F391-965F-EE08-62BD7D6A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380464-642D-A641-700D-BB2B6C1CD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75" y="1121759"/>
            <a:ext cx="5782492" cy="3174015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kumimoji="1" lang="ja-JP" altLang="en-US" sz="1800"/>
              <a:t>従来手法：アクティブラーニング手法</a:t>
            </a:r>
            <a:endParaRPr kumimoji="1" lang="en-US" altLang="ja-JP" sz="1800"/>
          </a:p>
          <a:p>
            <a:pPr marL="0" indent="0">
              <a:spcBef>
                <a:spcPts val="1200"/>
              </a:spcBef>
              <a:buNone/>
            </a:pPr>
            <a:r>
              <a:rPr kumimoji="1" lang="en-US" altLang="ja-JP" sz="1800"/>
              <a:t> </a:t>
            </a:r>
            <a:r>
              <a:rPr kumimoji="1" lang="en-US" altLang="ja-JP" sz="1800" b="0"/>
              <a:t>HDNNP</a:t>
            </a:r>
            <a:r>
              <a:rPr kumimoji="1" lang="ja-JP" altLang="en-US" sz="1800" b="0"/>
              <a:t>を用いた</a:t>
            </a:r>
            <a:r>
              <a:rPr kumimoji="1" lang="en-US" altLang="ja-JP" sz="1800" b="0"/>
              <a:t>MD</a:t>
            </a:r>
            <a:r>
              <a:rPr kumimoji="1" lang="ja-JP" altLang="en-US" sz="1800" b="0"/>
              <a:t>シミュレーションで予測の不確実性が高い構造をサンプリングし、</a:t>
            </a:r>
            <a:r>
              <a:rPr kumimoji="1" lang="en-US" altLang="ja-JP" sz="1800" b="0"/>
              <a:t>DFT</a:t>
            </a:r>
            <a:r>
              <a:rPr kumimoji="1" lang="ja-JP" altLang="en-US" sz="1800" b="0"/>
              <a:t>計算して訓練データに追加。</a:t>
            </a:r>
            <a:endParaRPr kumimoji="1" lang="en-US" altLang="ja-JP" sz="1800" b="0"/>
          </a:p>
          <a:p>
            <a:pPr marL="0" indent="0">
              <a:spcBef>
                <a:spcPts val="1200"/>
              </a:spcBef>
              <a:buNone/>
            </a:pP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＜課題</a:t>
            </a:r>
            <a:r>
              <a:rPr lang="ja-JP" altLang="en-US" sz="1800" b="0"/>
              <a:t>＞</a:t>
            </a: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800" b="0"/>
              <a:t>・テストデータの構造が大規模・複雑な場合、</a:t>
            </a:r>
            <a:r>
              <a:rPr lang="en-US" altLang="ja-JP" sz="1800" b="0"/>
              <a:t>HDNNP-MD</a:t>
            </a:r>
            <a:r>
              <a:rPr lang="ja-JP" altLang="en-US" sz="1800" b="0"/>
              <a:t>と</a:t>
            </a:r>
            <a:r>
              <a:rPr lang="en-US" altLang="ja-JP" sz="1800" b="0"/>
              <a:t>DFT</a:t>
            </a:r>
            <a:r>
              <a:rPr lang="ja-JP" altLang="en-US" sz="1800" b="0"/>
              <a:t>計算コストが増大。</a:t>
            </a:r>
            <a:endParaRPr kumimoji="1" lang="en-US" altLang="ja-JP" sz="18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F1A387-CFC7-6A19-FC30-3A47F613A6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既存の訓練データ拡張手法と課題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624FA60-FB27-0999-AA83-27C457A66AB6}"/>
              </a:ext>
            </a:extLst>
          </p:cNvPr>
          <p:cNvSpPr txBox="1"/>
          <p:nvPr/>
        </p:nvSpPr>
        <p:spPr>
          <a:xfrm>
            <a:off x="303828" y="4616852"/>
            <a:ext cx="5801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ja-JP" altLang="en-US" b="1">
                <a:latin typeface="メイリオ" panose="020B0604030504040204" pitchFamily="50" charset="-128"/>
                <a:ea typeface="メイリオ" panose="020B0604030504040204" pitchFamily="50" charset="-128"/>
              </a:rPr>
              <a:t>本研究のアプローチ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この課題を解決するため、予測誤差の原因となる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部分構造（＝キーモチーフ</a:t>
            </a:r>
            <a:r>
              <a:rPr kumimoji="0" lang="ja-JP" altLang="en-US">
                <a:latin typeface="メイリオ" panose="020B0604030504040204" pitchFamily="50" charset="-128"/>
              </a:rPr>
              <a:t>（原子間距離、結合角））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を含む新規構造を作成。</a:t>
            </a:r>
          </a:p>
        </p:txBody>
      </p:sp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95977841-717E-EB29-6291-934173061D50}"/>
              </a:ext>
            </a:extLst>
          </p:cNvPr>
          <p:cNvSpPr txBox="1">
            <a:spLocks/>
          </p:cNvSpPr>
          <p:nvPr/>
        </p:nvSpPr>
        <p:spPr>
          <a:xfrm>
            <a:off x="6645849" y="6067778"/>
            <a:ext cx="4801208" cy="2595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20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ja-JP" altLang="en-US" sz="1200" b="0"/>
              <a:t>テストデータで外挿検知した際のアクティブラーニングのフロー図</a:t>
            </a:r>
            <a:endParaRPr lang="en-US" altLang="ja-JP" sz="1200" b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3E92FD3-75C8-6382-A3F2-DFD29D0D75B4}"/>
              </a:ext>
            </a:extLst>
          </p:cNvPr>
          <p:cNvCxnSpPr>
            <a:cxnSpLocks/>
          </p:cNvCxnSpPr>
          <p:nvPr/>
        </p:nvCxnSpPr>
        <p:spPr>
          <a:xfrm>
            <a:off x="303828" y="4377418"/>
            <a:ext cx="5782492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163B49A-3D7A-71CB-7474-E64E13C66232}"/>
              </a:ext>
            </a:extLst>
          </p:cNvPr>
          <p:cNvCxnSpPr>
            <a:cxnSpLocks/>
          </p:cNvCxnSpPr>
          <p:nvPr/>
        </p:nvCxnSpPr>
        <p:spPr>
          <a:xfrm flipV="1">
            <a:off x="6105681" y="1050927"/>
            <a:ext cx="0" cy="568079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1F32B24-D5C0-E48E-75BD-27C7DCD1C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49" y="1338943"/>
            <a:ext cx="4800320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4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0EC7-6E44-24A2-F27D-5956DF56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2924172-4680-4C6B-FF7A-5ABFE2F5EE3D}"/>
              </a:ext>
            </a:extLst>
          </p:cNvPr>
          <p:cNvSpPr/>
          <p:nvPr/>
        </p:nvSpPr>
        <p:spPr>
          <a:xfrm>
            <a:off x="1079237" y="5216393"/>
            <a:ext cx="4647167" cy="127770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カバーギャップと外挿原子の周辺環境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から「キーモチーフ」を決定。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08A8E8-DAEB-0A39-1135-BD90F11F5CB0}"/>
              </a:ext>
            </a:extLst>
          </p:cNvPr>
          <p:cNvSpPr/>
          <p:nvPr/>
        </p:nvSpPr>
        <p:spPr>
          <a:xfrm>
            <a:off x="1079237" y="3281226"/>
            <a:ext cx="4647167" cy="13662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訓練データとテストデータの局所環境の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違いを定量化し「カバーギャップ」を特定。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5EA63BA-6198-72AF-5FF3-11E35697AD24}"/>
              </a:ext>
            </a:extLst>
          </p:cNvPr>
          <p:cNvSpPr/>
          <p:nvPr/>
        </p:nvSpPr>
        <p:spPr>
          <a:xfrm>
            <a:off x="6354656" y="3286195"/>
            <a:ext cx="4647167" cy="13662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代理構造を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計算し、訓練データに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追加して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HDNNP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を再学習。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8ACA23-EE3A-F13A-27B3-B7FDD1F967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提案手法：</a:t>
            </a:r>
            <a:r>
              <a:rPr lang="ja-JP" altLang="en-US"/>
              <a:t>キーモチーフ</a:t>
            </a:r>
            <a:r>
              <a:rPr kumimoji="1" lang="ja-JP" altLang="en-US"/>
              <a:t>指向データ拡張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745D42-3424-5B1E-0D59-8F7C08A53370}"/>
              </a:ext>
            </a:extLst>
          </p:cNvPr>
          <p:cNvSpPr txBox="1"/>
          <p:nvPr/>
        </p:nvSpPr>
        <p:spPr>
          <a:xfrm>
            <a:off x="1079237" y="3271938"/>
            <a:ext cx="1968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①分析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1FE725-2ACC-01A8-BAF1-45A931353620}"/>
              </a:ext>
            </a:extLst>
          </p:cNvPr>
          <p:cNvSpPr txBox="1"/>
          <p:nvPr/>
        </p:nvSpPr>
        <p:spPr>
          <a:xfrm>
            <a:off x="1079237" y="5222645"/>
            <a:ext cx="1968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②抽出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5950E77-25F6-D332-28EE-5F1DA8D3EA88}"/>
              </a:ext>
            </a:extLst>
          </p:cNvPr>
          <p:cNvSpPr/>
          <p:nvPr/>
        </p:nvSpPr>
        <p:spPr>
          <a:xfrm>
            <a:off x="6354656" y="5220768"/>
            <a:ext cx="4647167" cy="127770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キーモチーフを内包する低コストな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「代理構造」を自動設計。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FE0B089-C6DE-DF82-BC08-9DF89114C3F5}"/>
              </a:ext>
            </a:extLst>
          </p:cNvPr>
          <p:cNvSpPr txBox="1"/>
          <p:nvPr/>
        </p:nvSpPr>
        <p:spPr>
          <a:xfrm>
            <a:off x="6309928" y="3290896"/>
            <a:ext cx="3112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④追加と再学習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01E1C56-EEEE-0064-4DDA-B418A5E09EB8}"/>
              </a:ext>
            </a:extLst>
          </p:cNvPr>
          <p:cNvSpPr txBox="1"/>
          <p:nvPr/>
        </p:nvSpPr>
        <p:spPr>
          <a:xfrm>
            <a:off x="6294679" y="5222645"/>
            <a:ext cx="2596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③設計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15C3C65D-52B3-41C8-65F5-C1DDDB0B955B}"/>
              </a:ext>
            </a:extLst>
          </p:cNvPr>
          <p:cNvGrpSpPr/>
          <p:nvPr/>
        </p:nvGrpSpPr>
        <p:grpSpPr>
          <a:xfrm>
            <a:off x="5721087" y="5637299"/>
            <a:ext cx="595261" cy="523221"/>
            <a:chOff x="1572269" y="4816089"/>
            <a:chExt cx="938304" cy="840658"/>
          </a:xfrm>
        </p:grpSpPr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F52E7603-20EE-BD83-C4C0-F3C25EBD21D9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C5CEB802-693C-FFBF-3F9C-CB684B79318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3897CDB-D70A-E88D-1699-95C94C42E61C}"/>
              </a:ext>
            </a:extLst>
          </p:cNvPr>
          <p:cNvGrpSpPr/>
          <p:nvPr/>
        </p:nvGrpSpPr>
        <p:grpSpPr>
          <a:xfrm rot="16200000">
            <a:off x="6600887" y="4676920"/>
            <a:ext cx="595261" cy="523221"/>
            <a:chOff x="1572269" y="4816089"/>
            <a:chExt cx="938304" cy="840658"/>
          </a:xfrm>
        </p:grpSpPr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10700247-B637-975D-F2FD-C85683D13755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7B3183E8-B3C5-A116-198F-FB2BD3B6EFBA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AA76192-4AE3-FB0D-25DB-FD7307637055}"/>
              </a:ext>
            </a:extLst>
          </p:cNvPr>
          <p:cNvGrpSpPr/>
          <p:nvPr/>
        </p:nvGrpSpPr>
        <p:grpSpPr>
          <a:xfrm rot="10800000">
            <a:off x="5709899" y="4075298"/>
            <a:ext cx="661263" cy="523221"/>
            <a:chOff x="1572269" y="4816089"/>
            <a:chExt cx="938304" cy="840658"/>
          </a:xfrm>
        </p:grpSpPr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FB065C18-B91A-AF9B-1F0F-4B2E4E6DFD0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D3AA580C-20A3-2824-4BBF-8165E06E4DBE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52A0B1A-3276-0E67-E05E-D558F19BD83B}"/>
              </a:ext>
            </a:extLst>
          </p:cNvPr>
          <p:cNvGrpSpPr/>
          <p:nvPr/>
        </p:nvGrpSpPr>
        <p:grpSpPr>
          <a:xfrm rot="5400000">
            <a:off x="5008730" y="4662543"/>
            <a:ext cx="595260" cy="523221"/>
            <a:chOff x="1572270" y="4816089"/>
            <a:chExt cx="938303" cy="840658"/>
          </a:xfrm>
        </p:grpSpPr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D23ECC95-7F91-B09A-B6F2-6026A2AFE12D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AC42CD88-9D6A-0986-149D-FEEDA22E8623}"/>
                </a:ext>
              </a:extLst>
            </p:cNvPr>
            <p:cNvSpPr/>
            <p:nvPr/>
          </p:nvSpPr>
          <p:spPr>
            <a:xfrm rot="4134364">
              <a:off x="1636593" y="5135505"/>
              <a:ext cx="382670" cy="511316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id="{BA1C4874-680D-136C-60F8-E2472B8FB0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583" y="897317"/>
            <a:ext cx="1111375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＜特徴</a:t>
            </a:r>
            <a:r>
              <a:rPr kumimoji="0" lang="ja-JP" altLang="en-US" sz="1800">
                <a:latin typeface="メイリオ" panose="020B0604030504040204" pitchFamily="50" charset="-128"/>
              </a:rPr>
              <a:t>＞</a:t>
            </a:r>
            <a:endParaRPr kumimoji="0" lang="en-US" altLang="ja-JP" sz="1800"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・</a:t>
            </a:r>
            <a: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MDシミュレーションは不要。</a:t>
            </a: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・</a:t>
            </a:r>
            <a: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テストデータの予測精度向上に必要な「キーモチーフ</a:t>
            </a: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（原子間距離、結合角）</a:t>
            </a:r>
            <a: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」を抽出し、</a:t>
            </a: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0"/>
              <a:t>抽出した「キーモチーフ」を</a:t>
            </a: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含む計算コストの小さな代理構造を作成する。</a:t>
            </a: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＜</a:t>
            </a:r>
            <a:r>
              <a:rPr kumimoji="0" lang="ja-JP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4ステップサイクル</a:t>
            </a:r>
            <a:r>
              <a:rPr kumimoji="0" lang="ja-JP" altLang="en-US" sz="1800">
                <a:latin typeface="メイリオ" panose="020B0604030504040204" pitchFamily="50" charset="-128"/>
              </a:rPr>
              <a:t>＞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059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75D8-F5F1-A701-863B-56A733EA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30D953-85E2-3208-2159-6032C5E84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799" y="1015999"/>
            <a:ext cx="11244179" cy="556915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kumimoji="1" lang="en-US" altLang="ja-JP" sz="2000" b="0"/>
              <a:t>HDNNP</a:t>
            </a:r>
            <a:r>
              <a:rPr kumimoji="1" lang="ja-JP" altLang="en-US" sz="2000" b="0"/>
              <a:t>の入力値である対称性関数</a:t>
            </a:r>
            <a:endParaRPr kumimoji="1" lang="en-US" altLang="ja-JP" sz="2000" b="0"/>
          </a:p>
          <a:p>
            <a:pPr marL="0" indent="0">
              <a:spcBef>
                <a:spcPts val="1200"/>
              </a:spcBef>
              <a:buNone/>
            </a:pPr>
            <a:r>
              <a:rPr kumimoji="1" lang="ja-JP" altLang="en-US" sz="2000" b="0"/>
              <a:t>・</a:t>
            </a:r>
            <a:r>
              <a:rPr kumimoji="1" lang="en-US" altLang="ja-JP" sz="2000" b="0"/>
              <a:t>2</a:t>
            </a:r>
            <a:r>
              <a:rPr lang="ja-JP" altLang="en-US" sz="2000" b="0"/>
              <a:t>原子間に関する式</a:t>
            </a:r>
            <a:r>
              <a:rPr kumimoji="1" lang="ja-JP" altLang="en-US" sz="2000" b="0"/>
              <a:t> </a:t>
            </a:r>
            <a:r>
              <a:rPr kumimoji="1" lang="en-US" altLang="ja-JP" sz="2000" b="0"/>
              <a:t>(G²): </a:t>
            </a:r>
            <a:r>
              <a:rPr lang="ja-JP" altLang="en-US" sz="2000" b="0"/>
              <a:t>原子 </a:t>
            </a:r>
            <a:r>
              <a:rPr lang="en-US" altLang="ja-JP" sz="2000" b="0" err="1"/>
              <a:t>i</a:t>
            </a:r>
            <a:r>
              <a:rPr lang="en-US" altLang="ja-JP" sz="2000" b="0"/>
              <a:t> </a:t>
            </a:r>
            <a:r>
              <a:rPr lang="ja-JP" altLang="en-US" sz="2000" b="0"/>
              <a:t>を中心とした動径分布を記述</a:t>
            </a:r>
            <a:endParaRPr lang="en-US" altLang="ja-JP" sz="2000" b="0"/>
          </a:p>
          <a:p>
            <a:pPr marL="0" indent="0">
              <a:spcBef>
                <a:spcPts val="1200"/>
              </a:spcBef>
              <a:buNone/>
            </a:pPr>
            <a:r>
              <a:rPr lang="ja-JP" altLang="en-US" sz="2000" b="0"/>
              <a:t>・</a:t>
            </a:r>
            <a:r>
              <a:rPr lang="en-US" altLang="ja-JP" sz="2000" b="0"/>
              <a:t>3</a:t>
            </a:r>
            <a:r>
              <a:rPr lang="ja-JP" altLang="en-US" sz="2000" b="0"/>
              <a:t>原子間に関する式</a:t>
            </a:r>
            <a:r>
              <a:rPr lang="en-US" altLang="ja-JP" sz="2000" b="0"/>
              <a:t>(G³): </a:t>
            </a:r>
            <a:r>
              <a:rPr lang="ja-JP" altLang="en-US" sz="2000" b="0"/>
              <a:t>原子 </a:t>
            </a:r>
            <a:r>
              <a:rPr lang="en-US" altLang="ja-JP" sz="2000" b="0" err="1"/>
              <a:t>i</a:t>
            </a:r>
            <a:r>
              <a:rPr kumimoji="1" lang="ja-JP" altLang="en-US" sz="2000" b="0"/>
              <a:t>を中心とした角度分布を記述</a:t>
            </a:r>
            <a:endParaRPr kumimoji="1" lang="en-US" altLang="ja-JP" sz="2000" b="0"/>
          </a:p>
          <a:p>
            <a:pPr marL="0" indent="0">
              <a:buNone/>
            </a:pPr>
            <a:endParaRPr lang="en-US" altLang="ja-JP" sz="2000"/>
          </a:p>
          <a:p>
            <a:pPr marL="0" indent="0">
              <a:buNone/>
            </a:pPr>
            <a:endParaRPr lang="en-US" altLang="ja-JP" sz="2000"/>
          </a:p>
          <a:p>
            <a:pPr marL="0" indent="0">
              <a:buNone/>
            </a:pPr>
            <a:r>
              <a:rPr kumimoji="1" lang="ja-JP" altLang="en-US" sz="2000"/>
              <a:t>＜本研究での活用＞</a:t>
            </a:r>
            <a:endParaRPr kumimoji="1" lang="en-US" altLang="ja-JP" sz="2000"/>
          </a:p>
          <a:p>
            <a:pPr marL="0" indent="0">
              <a:spcBef>
                <a:spcPts val="1200"/>
              </a:spcBef>
              <a:buNone/>
            </a:pPr>
            <a:r>
              <a:rPr lang="ja-JP" altLang="en-US" sz="2000" b="0"/>
              <a:t>・対称性関数よりも直接的に局所環境を記述する</a:t>
            </a:r>
            <a:r>
              <a:rPr kumimoji="1" lang="ja-JP" altLang="en-US" sz="2000"/>
              <a:t>動径分布関数（</a:t>
            </a:r>
            <a:r>
              <a:rPr kumimoji="1" lang="en-US" altLang="ja-JP" sz="2000"/>
              <a:t>RDF</a:t>
            </a:r>
            <a:r>
              <a:rPr kumimoji="1" lang="ja-JP" altLang="en-US" sz="2000"/>
              <a:t>）</a:t>
            </a:r>
            <a:r>
              <a:rPr kumimoji="1" lang="ja-JP" altLang="en-US" sz="2000" b="0"/>
              <a:t>と</a:t>
            </a:r>
            <a:r>
              <a:rPr kumimoji="1" lang="ja-JP" altLang="en-US" sz="2000"/>
              <a:t>角度分布関数（</a:t>
            </a:r>
            <a:r>
              <a:rPr kumimoji="1" lang="en-US" altLang="ja-JP" sz="2000"/>
              <a:t>ADF</a:t>
            </a:r>
            <a:r>
              <a:rPr kumimoji="1" lang="ja-JP" altLang="en-US" sz="2000"/>
              <a:t>）</a:t>
            </a:r>
            <a:r>
              <a:rPr lang="ja-JP" altLang="en-US" sz="2000" b="0"/>
              <a:t>を訓練データとテストデータで</a:t>
            </a:r>
            <a:r>
              <a:rPr kumimoji="1" lang="ja-JP" altLang="en-US" sz="2000" b="0"/>
              <a:t>比較する。</a:t>
            </a:r>
            <a:endParaRPr kumimoji="1" lang="en-US" altLang="ja-JP" sz="2000" b="0"/>
          </a:p>
          <a:p>
            <a:pPr marL="0" indent="0">
              <a:spcBef>
                <a:spcPts val="1200"/>
              </a:spcBef>
              <a:buNone/>
            </a:pPr>
            <a:endParaRPr kumimoji="1" lang="en-US" altLang="ja-JP" sz="2000" b="0"/>
          </a:p>
          <a:p>
            <a:pPr marL="0" indent="0">
              <a:spcBef>
                <a:spcPts val="1200"/>
              </a:spcBef>
              <a:buNone/>
            </a:pPr>
            <a:r>
              <a:rPr kumimoji="1" lang="ja-JP" altLang="en-US" sz="2000" b="0"/>
              <a:t>・テストデータ側が訓練データよりも頻出する「距離・角度」を</a:t>
            </a:r>
            <a:r>
              <a:rPr kumimoji="1" lang="ja-JP" altLang="en-US" sz="2000"/>
              <a:t>「カバーギャップ」</a:t>
            </a:r>
            <a:r>
              <a:rPr kumimoji="1" lang="ja-JP" altLang="en-US" sz="2000" b="0"/>
              <a:t>として特定する。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FA6A44-5116-1395-3D34-33CAC23E12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手法詳細①：分析 </a:t>
            </a:r>
            <a:r>
              <a:rPr lang="en-US" altLang="ja-JP"/>
              <a:t>(Analysis) - RDF/ADF</a:t>
            </a:r>
            <a:r>
              <a:rPr lang="ja-JP" altLang="en-US"/>
              <a:t>ギャップ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FA468CF-C6A8-BF37-3B45-1592F051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641" y="1487447"/>
            <a:ext cx="1863634" cy="57031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3500943-CAA7-B761-6227-58E589D72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364" y="2529211"/>
            <a:ext cx="7501841" cy="57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0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67B4-88CD-422C-653C-501B364F2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6E8FFC-88C2-9F39-B74E-7BC756475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82" y="932465"/>
            <a:ext cx="11487653" cy="5925535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dirty="0"/>
              <a:t>＜キーモチーフの定義＞</a:t>
            </a: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下の</a:t>
            </a:r>
            <a:r>
              <a:rPr kumimoji="1" lang="en-US" altLang="ja-JP" sz="1800" b="0" dirty="0"/>
              <a:t>2</a:t>
            </a:r>
            <a:r>
              <a:rPr kumimoji="1" lang="ja-JP" altLang="en-US" sz="1800" b="0" dirty="0"/>
              <a:t>つの条件を満たすものをキーモチーフと定義する。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1.</a:t>
            </a:r>
            <a:r>
              <a:rPr kumimoji="1" lang="ja-JP" altLang="en-US" sz="1800" dirty="0"/>
              <a:t>カバーギャップ条件</a:t>
            </a:r>
            <a:r>
              <a:rPr kumimoji="1" lang="en-US" altLang="ja-JP" sz="1800" dirty="0"/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分析ステップで特定した、テストデータには頻出するが訓練データには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不足している局所構造。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2.</a:t>
            </a:r>
            <a:r>
              <a:rPr kumimoji="1" lang="ja-JP" altLang="en-US" sz="1800" dirty="0"/>
              <a:t>外挿条件</a:t>
            </a: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 </a:t>
            </a:r>
            <a:r>
              <a:rPr kumimoji="1" lang="en-US" altLang="ja-JP" sz="1800" b="0" dirty="0"/>
              <a:t>HDNNP</a:t>
            </a:r>
            <a:r>
              <a:rPr kumimoji="1" lang="ja-JP" altLang="en-US" sz="1800" b="0" dirty="0"/>
              <a:t>が外挿を引き起こしている原子周辺の局所構造。</a:t>
            </a:r>
            <a:endParaRPr kumimoji="1" lang="en-US" altLang="ja-JP" sz="1800" b="0" dirty="0"/>
          </a:p>
          <a:p>
            <a:pPr marL="0" indent="0">
              <a:buNone/>
            </a:pP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dirty="0"/>
              <a:t>＜抽出プロセス＞</a:t>
            </a:r>
            <a:endParaRPr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1.</a:t>
            </a:r>
            <a:r>
              <a:rPr kumimoji="1" lang="ja-JP" altLang="en-US" sz="1800" dirty="0"/>
              <a:t>外挿原子の特定</a:t>
            </a:r>
            <a:r>
              <a:rPr kumimoji="1" lang="en-US" altLang="ja-JP" sz="1800" dirty="0"/>
              <a:t>: </a:t>
            </a:r>
            <a:r>
              <a:rPr kumimoji="1" lang="ja-JP" altLang="en-US" sz="1800" b="0" dirty="0"/>
              <a:t>テストデータ内の「対称性関数が</a:t>
            </a:r>
            <a:r>
              <a:rPr lang="ja-JP" altLang="en-US" sz="1800" b="0" dirty="0"/>
              <a:t>訓練データの</a:t>
            </a:r>
            <a:r>
              <a:rPr kumimoji="1" lang="ja-JP" altLang="en-US" sz="1800" b="0" dirty="0"/>
              <a:t>範囲を超える原子」を「外挿原子」として記録。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2.</a:t>
            </a:r>
            <a:r>
              <a:rPr kumimoji="1" lang="ja-JP" altLang="en-US" sz="1800" dirty="0"/>
              <a:t>スコアリング</a:t>
            </a:r>
            <a:r>
              <a:rPr kumimoji="1" lang="en-US" altLang="ja-JP" sz="1800" b="0" dirty="0"/>
              <a:t>: </a:t>
            </a:r>
            <a:r>
              <a:rPr kumimoji="1" lang="ja-JP" altLang="en-US" sz="1800" b="0" dirty="0"/>
              <a:t>各外挿原子の局所環境が、カバーギャップ（</a:t>
            </a:r>
            <a:r>
              <a:rPr kumimoji="1" lang="en-US" altLang="ja-JP" sz="1800" b="0" dirty="0"/>
              <a:t>RDF/ADF</a:t>
            </a:r>
            <a:r>
              <a:rPr kumimoji="1" lang="ja-JP" altLang="en-US" sz="1800" b="0" dirty="0"/>
              <a:t>の不足領域）に含まれる場合、その局所環境（モチーフ）のスコアを算出。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3.</a:t>
            </a:r>
            <a:r>
              <a:rPr kumimoji="1" lang="ja-JP" altLang="en-US" sz="1800" dirty="0"/>
              <a:t>キーモチーフ決定</a:t>
            </a:r>
            <a:r>
              <a:rPr kumimoji="1" lang="en-US" altLang="ja-JP" sz="1800" dirty="0"/>
              <a:t>: </a:t>
            </a:r>
            <a:r>
              <a:rPr kumimoji="1" lang="ja-JP" altLang="en-US" sz="1800" b="0" dirty="0"/>
              <a:t>スコアの高いモチーフ（</a:t>
            </a:r>
            <a:r>
              <a:rPr kumimoji="0" lang="ja-JP" altLang="en-US" sz="1800" b="0" dirty="0"/>
              <a:t>原子間距離、結合角</a:t>
            </a:r>
            <a:r>
              <a:rPr kumimoji="1" lang="ja-JP" altLang="en-US" sz="1800" b="0" dirty="0"/>
              <a:t>）を、予測精度向上に重要な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dirty="0"/>
              <a:t>「キーモチーフ」</a:t>
            </a:r>
            <a:r>
              <a:rPr kumimoji="1" lang="ja-JP" altLang="en-US" sz="1800" b="0" dirty="0"/>
              <a:t>とみなす。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36217A-F797-ACF4-CB03-4C335AEC12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手法詳細②：抽出 </a:t>
            </a:r>
            <a:r>
              <a:rPr lang="en-US" altLang="ja-JP" dirty="0"/>
              <a:t>(Extraction) - </a:t>
            </a:r>
            <a:r>
              <a:rPr lang="ja-JP" altLang="en-US" dirty="0"/>
              <a:t>キーモチーフの特定</a:t>
            </a:r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710AEAC-8307-FC0F-8156-E36C4E23B54B}"/>
              </a:ext>
            </a:extLst>
          </p:cNvPr>
          <p:cNvGrpSpPr/>
          <p:nvPr/>
        </p:nvGrpSpPr>
        <p:grpSpPr>
          <a:xfrm>
            <a:off x="8065923" y="1522994"/>
            <a:ext cx="4185920" cy="2578731"/>
            <a:chOff x="8065923" y="1522994"/>
            <a:chExt cx="4185920" cy="257873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B7FF163-B43F-E32A-5A16-7DC27096A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263" r="25018" b="35327"/>
            <a:stretch>
              <a:fillRect/>
            </a:stretch>
          </p:blipFill>
          <p:spPr>
            <a:xfrm>
              <a:off x="8618187" y="1578249"/>
              <a:ext cx="2726510" cy="2157894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5313D7E-4085-070B-0C47-517FBBA39CBE}"/>
                </a:ext>
              </a:extLst>
            </p:cNvPr>
            <p:cNvSpPr txBox="1"/>
            <p:nvPr/>
          </p:nvSpPr>
          <p:spPr>
            <a:xfrm>
              <a:off x="8065923" y="3670838"/>
              <a:ext cx="4185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100" i="1" dirty="0"/>
                <a:t>Four Generations of High-Dimensional Neural Network Potentials </a:t>
              </a:r>
            </a:p>
            <a:p>
              <a:r>
                <a:rPr lang="en-US" altLang="ja-JP" sz="1100" i="1" dirty="0"/>
                <a:t>Jörg Behler* Cite This: Chem. Rev. 2021, 121, 10037−10072</a:t>
              </a:r>
              <a:endParaRPr kumimoji="1" lang="en-US" altLang="ja-JP" sz="1100" i="1" dirty="0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179DE049-B00F-BBBB-82F8-80719D2DBA8E}"/>
                </a:ext>
              </a:extLst>
            </p:cNvPr>
            <p:cNvCxnSpPr/>
            <p:nvPr/>
          </p:nvCxnSpPr>
          <p:spPr>
            <a:xfrm>
              <a:off x="9487296" y="1852485"/>
              <a:ext cx="98829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F42EE78D-2CDB-2880-63E3-A7D3B13B3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9474" y="1843250"/>
              <a:ext cx="408938" cy="92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A49050E2-FD0B-E32E-A55A-FD4D5E5B67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7437" y="1852485"/>
              <a:ext cx="3879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0B2B3CE4-1B29-A2F9-C301-8C5F0B0EF009}"/>
                </a:ext>
              </a:extLst>
            </p:cNvPr>
            <p:cNvSpPr txBox="1"/>
            <p:nvPr/>
          </p:nvSpPr>
          <p:spPr>
            <a:xfrm>
              <a:off x="9639628" y="15355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chemeClr val="accent1">
                      <a:lumMod val="75000"/>
                    </a:schemeClr>
                  </a:solidFill>
                </a:rPr>
                <a:t>内挿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7FEE6C5-DCDB-6A3C-BFE6-EA22CB0F47B0}"/>
                </a:ext>
              </a:extLst>
            </p:cNvPr>
            <p:cNvSpPr txBox="1"/>
            <p:nvPr/>
          </p:nvSpPr>
          <p:spPr>
            <a:xfrm>
              <a:off x="8822176" y="1522994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rgbClr val="C00000"/>
                  </a:solidFill>
                </a:rPr>
                <a:t>外挿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3E2CAFBA-4F5D-1846-B703-D5B02F30AFED}"/>
                </a:ext>
              </a:extLst>
            </p:cNvPr>
            <p:cNvSpPr txBox="1"/>
            <p:nvPr/>
          </p:nvSpPr>
          <p:spPr>
            <a:xfrm>
              <a:off x="10638217" y="15355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rgbClr val="C00000"/>
                  </a:solidFill>
                </a:rPr>
                <a:t>外挿</a:t>
              </a:r>
            </a:p>
          </p:txBody>
        </p:sp>
      </p:grpSp>
      <p:pic>
        <p:nvPicPr>
          <p:cNvPr id="1028" name="Picture 4" descr="\begin{align*}&#10;\text{Score}(m) = \sum_{o \in \text{Outliers}} \sum_{g \in \text{Geometry}(o)} I(g \in \text{range}(m)) \times \text{Difference}(m)&#10;\end{align*}">
            <a:extLst>
              <a:ext uri="{FF2B5EF4-FFF2-40B4-BE49-F238E27FC236}">
                <a16:creationId xmlns:a16="http://schemas.microsoft.com/office/drawing/2014/main" id="{6597ACD8-A9D6-0D04-DA1E-302FCD401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058" y="5436054"/>
            <a:ext cx="5284960" cy="4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2DE9ACD2-4CB6-415C-9316-2CBB9484ACC5}"/>
              </a:ext>
            </a:extLst>
          </p:cNvPr>
          <p:cNvSpPr/>
          <p:nvPr/>
        </p:nvSpPr>
        <p:spPr>
          <a:xfrm>
            <a:off x="6658410" y="2739103"/>
            <a:ext cx="260718" cy="660503"/>
          </a:xfrm>
          <a:custGeom>
            <a:avLst/>
            <a:gdLst>
              <a:gd name="connsiteX0" fmla="*/ 130359 w 260718"/>
              <a:gd name="connsiteY0" fmla="*/ 0 h 660503"/>
              <a:gd name="connsiteX1" fmla="*/ 175095 w 260718"/>
              <a:gd name="connsiteY1" fmla="*/ 53527 h 660503"/>
              <a:gd name="connsiteX2" fmla="*/ 260718 w 260718"/>
              <a:gd name="connsiteY2" fmla="*/ 330252 h 660503"/>
              <a:gd name="connsiteX3" fmla="*/ 175095 w 260718"/>
              <a:gd name="connsiteY3" fmla="*/ 606977 h 660503"/>
              <a:gd name="connsiteX4" fmla="*/ 130360 w 260718"/>
              <a:gd name="connsiteY4" fmla="*/ 660503 h 660503"/>
              <a:gd name="connsiteX5" fmla="*/ 85623 w 260718"/>
              <a:gd name="connsiteY5" fmla="*/ 606976 h 660503"/>
              <a:gd name="connsiteX6" fmla="*/ 0 w 260718"/>
              <a:gd name="connsiteY6" fmla="*/ 330251 h 660503"/>
              <a:gd name="connsiteX7" fmla="*/ 85623 w 260718"/>
              <a:gd name="connsiteY7" fmla="*/ 53526 h 660503"/>
              <a:gd name="connsiteX8" fmla="*/ 130359 w 260718"/>
              <a:gd name="connsiteY8" fmla="*/ 0 h 66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718" h="660503">
                <a:moveTo>
                  <a:pt x="130359" y="0"/>
                </a:moveTo>
                <a:lnTo>
                  <a:pt x="175095" y="53527"/>
                </a:lnTo>
                <a:cubicBezTo>
                  <a:pt x="229153" y="132520"/>
                  <a:pt x="260718" y="227747"/>
                  <a:pt x="260718" y="330252"/>
                </a:cubicBezTo>
                <a:cubicBezTo>
                  <a:pt x="260718" y="432757"/>
                  <a:pt x="229153" y="527984"/>
                  <a:pt x="175095" y="606977"/>
                </a:cubicBezTo>
                <a:lnTo>
                  <a:pt x="130360" y="660503"/>
                </a:lnTo>
                <a:lnTo>
                  <a:pt x="85623" y="606976"/>
                </a:lnTo>
                <a:cubicBezTo>
                  <a:pt x="31565" y="527983"/>
                  <a:pt x="0" y="432756"/>
                  <a:pt x="0" y="330251"/>
                </a:cubicBezTo>
                <a:cubicBezTo>
                  <a:pt x="0" y="227746"/>
                  <a:pt x="31565" y="132519"/>
                  <a:pt x="85623" y="53526"/>
                </a:cubicBezTo>
                <a:lnTo>
                  <a:pt x="130359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24" name="フリーフォーム: 図形 23">
            <a:extLst>
              <a:ext uri="{FF2B5EF4-FFF2-40B4-BE49-F238E27FC236}">
                <a16:creationId xmlns:a16="http://schemas.microsoft.com/office/drawing/2014/main" id="{5A282CE9-A48F-BA2F-E3C4-6D8DDE012FC1}"/>
              </a:ext>
            </a:extLst>
          </p:cNvPr>
          <p:cNvSpPr/>
          <p:nvPr/>
        </p:nvSpPr>
        <p:spPr>
          <a:xfrm>
            <a:off x="6788769" y="2574416"/>
            <a:ext cx="872351" cy="989874"/>
          </a:xfrm>
          <a:custGeom>
            <a:avLst/>
            <a:gdLst>
              <a:gd name="connsiteX0" fmla="*/ 370996 w 872351"/>
              <a:gd name="connsiteY0" fmla="*/ 0 h 989876"/>
              <a:gd name="connsiteX1" fmla="*/ 872351 w 872351"/>
              <a:gd name="connsiteY1" fmla="*/ 494938 h 989876"/>
              <a:gd name="connsiteX2" fmla="*/ 370996 w 872351"/>
              <a:gd name="connsiteY2" fmla="*/ 989876 h 989876"/>
              <a:gd name="connsiteX3" fmla="*/ 16484 w 872351"/>
              <a:gd name="connsiteY3" fmla="*/ 844912 h 989876"/>
              <a:gd name="connsiteX4" fmla="*/ 1 w 872351"/>
              <a:gd name="connsiteY4" fmla="*/ 825190 h 989876"/>
              <a:gd name="connsiteX5" fmla="*/ 44736 w 872351"/>
              <a:gd name="connsiteY5" fmla="*/ 771664 h 989876"/>
              <a:gd name="connsiteX6" fmla="*/ 130359 w 872351"/>
              <a:gd name="connsiteY6" fmla="*/ 494939 h 989876"/>
              <a:gd name="connsiteX7" fmla="*/ 44736 w 872351"/>
              <a:gd name="connsiteY7" fmla="*/ 218214 h 989876"/>
              <a:gd name="connsiteX8" fmla="*/ 0 w 872351"/>
              <a:gd name="connsiteY8" fmla="*/ 164687 h 989876"/>
              <a:gd name="connsiteX9" fmla="*/ 16484 w 872351"/>
              <a:gd name="connsiteY9" fmla="*/ 144964 h 989876"/>
              <a:gd name="connsiteX10" fmla="*/ 370996 w 872351"/>
              <a:gd name="connsiteY10" fmla="*/ 0 h 98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72351" h="989876">
                <a:moveTo>
                  <a:pt x="370996" y="0"/>
                </a:moveTo>
                <a:cubicBezTo>
                  <a:pt x="647887" y="0"/>
                  <a:pt x="872351" y="221591"/>
                  <a:pt x="872351" y="494938"/>
                </a:cubicBezTo>
                <a:cubicBezTo>
                  <a:pt x="872351" y="768285"/>
                  <a:pt x="647887" y="989876"/>
                  <a:pt x="370996" y="989876"/>
                </a:cubicBezTo>
                <a:cubicBezTo>
                  <a:pt x="232551" y="989876"/>
                  <a:pt x="107212" y="934478"/>
                  <a:pt x="16484" y="844912"/>
                </a:cubicBezTo>
                <a:lnTo>
                  <a:pt x="1" y="825190"/>
                </a:lnTo>
                <a:lnTo>
                  <a:pt x="44736" y="771664"/>
                </a:lnTo>
                <a:cubicBezTo>
                  <a:pt x="98794" y="692671"/>
                  <a:pt x="130359" y="597444"/>
                  <a:pt x="130359" y="494939"/>
                </a:cubicBezTo>
                <a:cubicBezTo>
                  <a:pt x="130359" y="392434"/>
                  <a:pt x="98794" y="297207"/>
                  <a:pt x="44736" y="218214"/>
                </a:cubicBezTo>
                <a:lnTo>
                  <a:pt x="0" y="164687"/>
                </a:lnTo>
                <a:lnTo>
                  <a:pt x="16484" y="144964"/>
                </a:lnTo>
                <a:cubicBezTo>
                  <a:pt x="107212" y="55398"/>
                  <a:pt x="232551" y="0"/>
                  <a:pt x="370996" y="0"/>
                </a:cubicBezTo>
                <a:close/>
              </a:path>
            </a:pathLst>
          </a:custGeom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 dirty="0"/>
              <a:t>外挿</a:t>
            </a:r>
          </a:p>
        </p:txBody>
      </p:sp>
      <p:sp>
        <p:nvSpPr>
          <p:cNvPr id="26" name="フリーフォーム: 図形 25">
            <a:extLst>
              <a:ext uri="{FF2B5EF4-FFF2-40B4-BE49-F238E27FC236}">
                <a16:creationId xmlns:a16="http://schemas.microsoft.com/office/drawing/2014/main" id="{B2AF7DFD-081C-D8BD-628C-2924334DC145}"/>
              </a:ext>
            </a:extLst>
          </p:cNvPr>
          <p:cNvSpPr/>
          <p:nvPr/>
        </p:nvSpPr>
        <p:spPr>
          <a:xfrm>
            <a:off x="5916418" y="2574417"/>
            <a:ext cx="872352" cy="989874"/>
          </a:xfrm>
          <a:custGeom>
            <a:avLst/>
            <a:gdLst>
              <a:gd name="connsiteX0" fmla="*/ 501355 w 872352"/>
              <a:gd name="connsiteY0" fmla="*/ 0 h 989876"/>
              <a:gd name="connsiteX1" fmla="*/ 855867 w 872352"/>
              <a:gd name="connsiteY1" fmla="*/ 144964 h 989876"/>
              <a:gd name="connsiteX2" fmla="*/ 872351 w 872352"/>
              <a:gd name="connsiteY2" fmla="*/ 164686 h 989876"/>
              <a:gd name="connsiteX3" fmla="*/ 827615 w 872352"/>
              <a:gd name="connsiteY3" fmla="*/ 218212 h 989876"/>
              <a:gd name="connsiteX4" fmla="*/ 741992 w 872352"/>
              <a:gd name="connsiteY4" fmla="*/ 494937 h 989876"/>
              <a:gd name="connsiteX5" fmla="*/ 827615 w 872352"/>
              <a:gd name="connsiteY5" fmla="*/ 771662 h 989876"/>
              <a:gd name="connsiteX6" fmla="*/ 872352 w 872352"/>
              <a:gd name="connsiteY6" fmla="*/ 825189 h 989876"/>
              <a:gd name="connsiteX7" fmla="*/ 855867 w 872352"/>
              <a:gd name="connsiteY7" fmla="*/ 844912 h 989876"/>
              <a:gd name="connsiteX8" fmla="*/ 501355 w 872352"/>
              <a:gd name="connsiteY8" fmla="*/ 989876 h 989876"/>
              <a:gd name="connsiteX9" fmla="*/ 0 w 872352"/>
              <a:gd name="connsiteY9" fmla="*/ 494938 h 989876"/>
              <a:gd name="connsiteX10" fmla="*/ 501355 w 872352"/>
              <a:gd name="connsiteY10" fmla="*/ 0 h 98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72352" h="989876">
                <a:moveTo>
                  <a:pt x="501355" y="0"/>
                </a:moveTo>
                <a:cubicBezTo>
                  <a:pt x="639800" y="0"/>
                  <a:pt x="765139" y="55398"/>
                  <a:pt x="855867" y="144964"/>
                </a:cubicBezTo>
                <a:lnTo>
                  <a:pt x="872351" y="164686"/>
                </a:lnTo>
                <a:lnTo>
                  <a:pt x="827615" y="218212"/>
                </a:lnTo>
                <a:cubicBezTo>
                  <a:pt x="773557" y="297205"/>
                  <a:pt x="741992" y="392432"/>
                  <a:pt x="741992" y="494937"/>
                </a:cubicBezTo>
                <a:cubicBezTo>
                  <a:pt x="741992" y="597442"/>
                  <a:pt x="773557" y="692669"/>
                  <a:pt x="827615" y="771662"/>
                </a:cubicBezTo>
                <a:lnTo>
                  <a:pt x="872352" y="825189"/>
                </a:lnTo>
                <a:lnTo>
                  <a:pt x="855867" y="844912"/>
                </a:lnTo>
                <a:cubicBezTo>
                  <a:pt x="765139" y="934478"/>
                  <a:pt x="639800" y="989876"/>
                  <a:pt x="501355" y="989876"/>
                </a:cubicBezTo>
                <a:cubicBezTo>
                  <a:pt x="224464" y="989876"/>
                  <a:pt x="0" y="768285"/>
                  <a:pt x="0" y="494938"/>
                </a:cubicBezTo>
                <a:cubicBezTo>
                  <a:pt x="0" y="221591"/>
                  <a:pt x="224464" y="0"/>
                  <a:pt x="501355" y="0"/>
                </a:cubicBezTo>
                <a:close/>
              </a:path>
            </a:pathLst>
          </a:custGeom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200" dirty="0"/>
              <a:t>カバーギャップ</a:t>
            </a: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E434739-836F-98FC-44D8-50BF5BEF3CBC}"/>
              </a:ext>
            </a:extLst>
          </p:cNvPr>
          <p:cNvCxnSpPr>
            <a:cxnSpLocks/>
          </p:cNvCxnSpPr>
          <p:nvPr/>
        </p:nvCxnSpPr>
        <p:spPr>
          <a:xfrm>
            <a:off x="6798821" y="3221204"/>
            <a:ext cx="60154" cy="457425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0B9F326-F4F9-4252-5E03-44F568CF1523}"/>
              </a:ext>
            </a:extLst>
          </p:cNvPr>
          <p:cNvSpPr txBox="1"/>
          <p:nvPr/>
        </p:nvSpPr>
        <p:spPr>
          <a:xfrm>
            <a:off x="6298033" y="3670838"/>
            <a:ext cx="1621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キーモチーフ</a:t>
            </a:r>
          </a:p>
        </p:txBody>
      </p:sp>
    </p:spTree>
    <p:extLst>
      <p:ext uri="{BB962C8B-B14F-4D97-AF65-F5344CB8AC3E}">
        <p14:creationId xmlns:p14="http://schemas.microsoft.com/office/powerpoint/2010/main" val="2916960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8365-E5E9-088A-B7DE-FFB7545D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6326B-C860-9528-3314-D1AC0B326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800" dirty="0"/>
              <a:t>＜目的</a:t>
            </a:r>
            <a:r>
              <a:rPr lang="ja-JP" altLang="en-US" sz="1800" dirty="0"/>
              <a:t>＞</a:t>
            </a: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抽出されたキーモチーフを効率的に内包し、</a:t>
            </a:r>
            <a:r>
              <a:rPr kumimoji="1" lang="en-US" altLang="ja-JP" sz="1800" b="0" dirty="0"/>
              <a:t>DFT</a:t>
            </a:r>
            <a:r>
              <a:rPr kumimoji="1" lang="ja-JP" altLang="en-US" sz="1800" b="0" dirty="0"/>
              <a:t>計算コストの低い結晶構造（代理構造</a:t>
            </a:r>
            <a:r>
              <a:rPr lang="ja-JP" altLang="en-US" sz="1800" b="0" dirty="0"/>
              <a:t>）</a:t>
            </a:r>
            <a:r>
              <a:rPr kumimoji="1" lang="ja-JP" altLang="en-US" sz="1800" b="0" dirty="0"/>
              <a:t>を自動設計。</a:t>
            </a:r>
            <a:endParaRPr lang="en-US" altLang="ja-JP" sz="1800" b="0" dirty="0"/>
          </a:p>
          <a:p>
            <a:pPr marL="0" indent="0">
              <a:buNone/>
            </a:pPr>
            <a:endParaRPr kumimoji="1" lang="en-US" altLang="ja-JP" sz="1800" b="0" dirty="0"/>
          </a:p>
          <a:p>
            <a:pPr marL="0" indent="0">
              <a:buNone/>
            </a:pPr>
            <a:r>
              <a:rPr kumimoji="1" lang="ja-JP" altLang="en-US" sz="1800" dirty="0"/>
              <a:t>＜設計アルゴリズム＞</a:t>
            </a:r>
            <a:endParaRPr kumimoji="1" lang="en-US" altLang="ja-JP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1800" dirty="0"/>
              <a:t>1.</a:t>
            </a:r>
            <a:r>
              <a:rPr kumimoji="1" lang="ja-JP" altLang="en-US" sz="1800" dirty="0"/>
              <a:t>候補構造生成</a:t>
            </a:r>
            <a:r>
              <a:rPr kumimoji="1" lang="en-US" altLang="ja-JP" sz="1800" b="0" dirty="0"/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1800" b="0" dirty="0"/>
              <a:t>テストデータに含まれる</a:t>
            </a:r>
            <a:r>
              <a:rPr kumimoji="1" lang="ja-JP" altLang="en-US" sz="1800" b="0" dirty="0"/>
              <a:t>原子種を</a:t>
            </a:r>
            <a:r>
              <a:rPr kumimoji="1" lang="en-US" altLang="ja-JP" sz="1800" b="0" dirty="0" err="1"/>
              <a:t>fcc</a:t>
            </a:r>
            <a:r>
              <a:rPr kumimoji="1" lang="ja-JP" altLang="en-US" sz="1800" b="0" dirty="0"/>
              <a:t>や</a:t>
            </a:r>
            <a:r>
              <a:rPr kumimoji="1" lang="en-US" altLang="ja-JP" sz="1800" b="0" dirty="0"/>
              <a:t>bcc</a:t>
            </a:r>
            <a:r>
              <a:rPr kumimoji="1" lang="ja-JP" altLang="en-US" sz="1800" b="0" dirty="0"/>
              <a:t>などの基本構造テンプレートに当てはめ、様々な格子定数を</a:t>
            </a: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r>
              <a:rPr kumimoji="1" lang="ja-JP" altLang="en-US" sz="1800" b="0" dirty="0"/>
              <a:t>適用し</a:t>
            </a:r>
            <a:r>
              <a:rPr lang="ja-JP" altLang="en-US" sz="1800" b="0" dirty="0"/>
              <a:t>、</a:t>
            </a:r>
            <a:r>
              <a:rPr kumimoji="1" lang="ja-JP" altLang="en-US" sz="1800" b="0" dirty="0"/>
              <a:t>候補構造を自動生成。</a:t>
            </a: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r>
              <a:rPr kumimoji="1" lang="en-US" altLang="ja-JP" sz="1800" dirty="0"/>
              <a:t>2.</a:t>
            </a:r>
            <a:r>
              <a:rPr kumimoji="1" lang="ja-JP" altLang="en-US" sz="1800" dirty="0"/>
              <a:t>スコアリング</a:t>
            </a:r>
            <a:r>
              <a:rPr kumimoji="1" lang="en-US" altLang="ja-JP" sz="1800" dirty="0"/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kumimoji="1" lang="ja-JP" altLang="en-US" sz="1800" b="0" dirty="0"/>
              <a:t>各候補構造が、特定されたキーモチーフをどれだけ多く</a:t>
            </a:r>
            <a:r>
              <a:rPr lang="ja-JP" altLang="en-US" sz="1800" b="0" dirty="0"/>
              <a:t>、無理なく</a:t>
            </a:r>
            <a:r>
              <a:rPr kumimoji="1" lang="ja-JP" altLang="en-US" sz="1800" b="0" dirty="0"/>
              <a:t>内包しているかを評価し、</a:t>
            </a: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r>
              <a:rPr kumimoji="1" lang="ja-JP" altLang="en-US" sz="1800" b="0" dirty="0"/>
              <a:t>スコアを算出。</a:t>
            </a:r>
            <a:endParaRPr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3.</a:t>
            </a:r>
            <a:r>
              <a:rPr kumimoji="1" lang="ja-JP" altLang="en-US" sz="1800" dirty="0"/>
              <a:t>最適構造の選択</a:t>
            </a:r>
            <a:r>
              <a:rPr kumimoji="1" lang="en-US" altLang="ja-JP" sz="1800" dirty="0"/>
              <a:t>: 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スコアが最も高い候補構造を</a:t>
            </a:r>
            <a:r>
              <a:rPr kumimoji="1" lang="ja-JP" altLang="en-US" sz="1800" dirty="0"/>
              <a:t>「代理構造」</a:t>
            </a:r>
            <a:r>
              <a:rPr kumimoji="1" lang="ja-JP" altLang="en-US" sz="1800" b="0" dirty="0"/>
              <a:t>として選択。</a:t>
            </a:r>
            <a:endParaRPr kumimoji="1" lang="en-US" altLang="ja-JP" sz="1800" b="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5DE648-C4A5-6C37-286C-7FF1483C92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/>
              <a:t>手法詳細③：</a:t>
            </a:r>
            <a:r>
              <a:rPr lang="ja-JP" altLang="en-US"/>
              <a:t>設計 </a:t>
            </a:r>
            <a:r>
              <a:rPr lang="en-US" altLang="ja-JP"/>
              <a:t>(Design) - </a:t>
            </a:r>
            <a:r>
              <a:rPr lang="ja-JP" altLang="en-US"/>
              <a:t>代理構造の自動設計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6F5DDD9-2B75-74BF-567A-B79AF640F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6" y="4692128"/>
            <a:ext cx="7913217" cy="38870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D8C4F4E-38EE-F86D-B0E0-11EF87FC1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246" y="5410376"/>
            <a:ext cx="4329676" cy="4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5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C282-0696-C2D6-D903-843D7420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714930-7C57-A495-FE6B-67174247B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8"/>
            <a:ext cx="11099800" cy="565729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/>
              <a:t>＜追加＞</a:t>
            </a: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設計された代理構造に対して、第一原理計算を実行。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得られた構造、エネルギー、原子に働く力のデータを訓練データに追加。</a:t>
            </a: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/>
              <a:t>＜再学習</a:t>
            </a:r>
            <a:r>
              <a:rPr lang="ja-JP" altLang="en-US" sz="1800"/>
              <a:t>＞</a:t>
            </a: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拡張された訓練データセットを用いて</a:t>
            </a:r>
            <a:r>
              <a:rPr kumimoji="1" lang="en-US" altLang="ja-JP" sz="1800" b="0"/>
              <a:t>HDNNP</a:t>
            </a:r>
            <a:r>
              <a:rPr kumimoji="1" lang="ja-JP" altLang="en-US" sz="1800" b="0"/>
              <a:t>モデルを再学習。</a:t>
            </a: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/>
              <a:t>＜評価＞</a:t>
            </a:r>
            <a:endParaRPr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再学習</a:t>
            </a:r>
            <a:r>
              <a:rPr lang="ja-JP" altLang="en-US" sz="1800" b="0"/>
              <a:t>したモデル</a:t>
            </a:r>
            <a:r>
              <a:rPr kumimoji="1" lang="ja-JP" altLang="en-US" sz="1800" b="0"/>
              <a:t>を用いて、テストデータに対する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エネルギー予測精度を評価し、誤差が低減されて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いるかを確認。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十分に誤差が低減されるまで、①～④の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ステップを繰り返す。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C96A2A-B811-A33B-7F1A-75B26DC96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手法詳細④：追加 </a:t>
            </a:r>
            <a:r>
              <a:rPr kumimoji="1" lang="en-US" altLang="ja-JP"/>
              <a:t>(Addition) </a:t>
            </a:r>
            <a:r>
              <a:rPr kumimoji="1" lang="ja-JP" altLang="en-US"/>
              <a:t>と</a:t>
            </a:r>
            <a:r>
              <a:rPr lang="ja-JP" altLang="en-US"/>
              <a:t> </a:t>
            </a:r>
            <a:r>
              <a:rPr kumimoji="1" lang="ja-JP" altLang="en-US"/>
              <a:t>再学習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910C3E9-17EA-B004-7634-E701FC02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949" y="4494283"/>
            <a:ext cx="5732440" cy="188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18版.potx" id="{A469081F-64EF-4CF6-91D3-5B6940AC2E8C}" vid="{E103DA89-B06B-4F94-A5A3-B576187FA3F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C40BC6AAD770E4085EC5DB5A91F5F38" ma:contentTypeVersion="12" ma:contentTypeDescription="新しいドキュメントを作成します。" ma:contentTypeScope="" ma:versionID="8c9ce34172121f5ee9a98db898a2962b">
  <xsd:schema xmlns:xsd="http://www.w3.org/2001/XMLSchema" xmlns:xs="http://www.w3.org/2001/XMLSchema" xmlns:p="http://schemas.microsoft.com/office/2006/metadata/properties" xmlns:ns3="3078d8e9-bf22-44b8-9086-c47f202e4d5f" targetNamespace="http://schemas.microsoft.com/office/2006/metadata/properties" ma:root="true" ma:fieldsID="c54373c5c9aedacc85b003d1f6d782ee" ns3:_="">
    <xsd:import namespace="3078d8e9-bf22-44b8-9086-c47f202e4d5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78d8e9-bf22-44b8-9086-c47f202e4d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78d8e9-bf22-44b8-9086-c47f202e4d5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5F578A-A58D-4F24-808C-81DD1C821923}">
  <ds:schemaRefs>
    <ds:schemaRef ds:uri="3078d8e9-bf22-44b8-9086-c47f202e4d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B33ED81-A378-482E-B710-0D21A32023B2}">
  <ds:schemaRefs>
    <ds:schemaRef ds:uri="http://schemas.microsoft.com/office/2006/documentManagement/types"/>
    <ds:schemaRef ds:uri="3078d8e9-bf22-44b8-9086-c47f202e4d5f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研究発表用テンプレート2018版</Template>
  <TotalTime>50</TotalTime>
  <Words>1425</Words>
  <Application>Microsoft Office PowerPoint</Application>
  <PresentationFormat>ワイド画面</PresentationFormat>
  <Paragraphs>146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メイリオ</vt:lpstr>
      <vt:lpstr>Arial</vt:lpstr>
      <vt:lpstr>Wingdings</vt:lpstr>
      <vt:lpstr>Office テーマ</vt:lpstr>
      <vt:lpstr>Al-Fe-Pt三元系合金における 高次元ニューラルネットワークポテンシャルの外挿精度向上に関する研究</vt:lpstr>
      <vt:lpstr>材料科学や化学分野では、原子レベルでのシミュレーションが 物質特性の理解・予測に不可欠である</vt:lpstr>
      <vt:lpstr>＜HDNNPの基本構造＞ ・対称性関数(Symmetry Functions):  各原子の局所的な化学環境を記述子ベクトルとして表現 （回転・並進・原子入れ替えに対して不変）。  ・原子ニューラルネットワーク（Atom NNs）:  対称性関数を入力として、その原子が持つエネルギーを予測。 元素ごとに個別のNNを用意。  ・原子ごとのエネルギー(Atomic Energy)： Atom-NNは、「原子iのエネルギー寄与分 E_i」を計算して 出力します  ・総エネルギー(Total Energy):  系全体のエネルギー予測値 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迫田　章吾</dc:creator>
  <cp:lastModifiedBy>迫田　章吾 </cp:lastModifiedBy>
  <cp:revision>2</cp:revision>
  <dcterms:created xsi:type="dcterms:W3CDTF">2025-10-15T18:46:34Z</dcterms:created>
  <dcterms:modified xsi:type="dcterms:W3CDTF">2026-02-13T07:56:31Z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0x0101003C40BC6AAD770E4085EC5DB5A91F5F38</vt:lpwstr>
  </property>
</Properties>
</file>